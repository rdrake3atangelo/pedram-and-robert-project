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3" autoAdjust="0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C8D8E8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C8D8E8"/>
                </a:solidFill>
                <a:latin typeface="Arial"/>
              </a:rPr>
              <a:t>Precision vs Recall by Use Case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 (%)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UC1</c:v>
                </c:pt>
                <c:pt idx="1">
                  <c:v>UC2</c:v>
                </c:pt>
                <c:pt idx="2">
                  <c:v>UC3</c:v>
                </c:pt>
                <c:pt idx="3">
                  <c:v>UC4</c:v>
                </c:pt>
                <c:pt idx="4">
                  <c:v>Overall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75</c:v>
                </c:pt>
                <c:pt idx="4">
                  <c:v>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91-47BB-BF5A-9E24A8C588A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 (%)</c:v>
                </c:pt>
              </c:strCache>
            </c:strRef>
          </c:tx>
          <c:spPr>
            <a:solidFill>
              <a:srgbClr val="1B4F8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UC1</c:v>
                </c:pt>
                <c:pt idx="1">
                  <c:v>UC2</c:v>
                </c:pt>
                <c:pt idx="2">
                  <c:v>UC3</c:v>
                </c:pt>
                <c:pt idx="3">
                  <c:v>UC4</c:v>
                </c:pt>
                <c:pt idx="4">
                  <c:v>Overall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E91-47BB-BF5A-9E24A8C588A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932432832"/>
        <c:axId val="1932436096"/>
      </c:barChart>
      <c:catAx>
        <c:axId val="193243283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8D8E8"/>
                </a:solidFill>
                <a:latin typeface="Arial"/>
              </a:defRPr>
            </a:pPr>
            <a:endParaRPr lang="en-US"/>
          </a:p>
        </c:txPr>
        <c:crossAx val="1932436096"/>
        <c:crosses val="autoZero"/>
        <c:auto val="1"/>
        <c:lblAlgn val="ctr"/>
        <c:lblOffset val="100"/>
        <c:noMultiLvlLbl val="1"/>
      </c:catAx>
      <c:valAx>
        <c:axId val="1932436096"/>
        <c:scaling>
          <c:orientation val="minMax"/>
          <c:max val="110"/>
        </c:scaling>
        <c:delete val="0"/>
        <c:axPos val="l"/>
        <c:majorGridlines>
          <c:spPr>
            <a:ln w="6350" cap="flat">
              <a:solidFill>
                <a:srgbClr val="1E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3BE"/>
                </a:solidFill>
                <a:latin typeface="Arial"/>
              </a:defRPr>
            </a:pPr>
            <a:endParaRPr lang="en-US"/>
          </a:p>
        </c:txPr>
        <c:crossAx val="1932432832"/>
        <c:crosses val="autoZero"/>
        <c:crossBetween val="between"/>
      </c:valAx>
      <c:spPr>
        <a:solidFill>
          <a:srgbClr val="162030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FFC00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6203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C8D8E8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C8D8E8"/>
                </a:solidFill>
                <a:latin typeface="Arial"/>
              </a:rPr>
              <a:t>Query Execution Time by Use Case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1-Hour Window (s)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UC1</c:v>
                </c:pt>
                <c:pt idx="1">
                  <c:v>UC2</c:v>
                </c:pt>
                <c:pt idx="2">
                  <c:v>UC3</c:v>
                </c:pt>
                <c:pt idx="3">
                  <c:v>UC4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1.4</c:v>
                </c:pt>
                <c:pt idx="1">
                  <c:v>1.1000000000000001</c:v>
                </c:pt>
                <c:pt idx="2">
                  <c:v>2.2999999999999998</c:v>
                </c:pt>
                <c:pt idx="3">
                  <c:v>1.6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4D-453C-B632-FF7E645B74F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24-Hour Window (s)</c:v>
                </c:pt>
              </c:strCache>
            </c:strRef>
          </c:tx>
          <c:spPr>
            <a:solidFill>
              <a:srgbClr val="1B4F8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UC1</c:v>
                </c:pt>
                <c:pt idx="1">
                  <c:v>UC2</c:v>
                </c:pt>
                <c:pt idx="2">
                  <c:v>UC3</c:v>
                </c:pt>
                <c:pt idx="3">
                  <c:v>UC4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6.7</c:v>
                </c:pt>
                <c:pt idx="2">
                  <c:v>14.1</c:v>
                </c:pt>
                <c:pt idx="3">
                  <c:v>9.4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D4D-453C-B632-FF7E645B74F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729170448"/>
        <c:axId val="1976434240"/>
      </c:barChart>
      <c:catAx>
        <c:axId val="172917044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8D8E8"/>
                </a:solidFill>
                <a:latin typeface="Arial"/>
              </a:defRPr>
            </a:pPr>
            <a:endParaRPr lang="en-US"/>
          </a:p>
        </c:txPr>
        <c:crossAx val="1976434240"/>
        <c:crosses val="autoZero"/>
        <c:auto val="1"/>
        <c:lblAlgn val="ctr"/>
        <c:lblOffset val="100"/>
        <c:noMultiLvlLbl val="1"/>
      </c:catAx>
      <c:valAx>
        <c:axId val="1976434240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3BE"/>
                </a:solidFill>
                <a:latin typeface="Arial"/>
              </a:defRPr>
            </a:pPr>
            <a:endParaRPr lang="en-US"/>
          </a:p>
        </c:txPr>
        <c:crossAx val="1729170448"/>
        <c:crosses val="autoZero"/>
        <c:crossBetween val="between"/>
      </c:valAx>
      <c:spPr>
        <a:solidFill>
          <a:srgbClr val="162030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FFC00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6203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2687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77724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691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Engineering for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02920" y="21945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Loss Prevention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02920" y="28346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Splunk-Based Alerts and Response Plans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Data Exfiltration Incidents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3566160"/>
            <a:ext cx="3657600" cy="2743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36758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of Computer Science  ·  Final Project Presentation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583680" y="3200400"/>
            <a:ext cx="2377440" cy="105156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83680" y="327355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6583680" y="38587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Use Cases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Agenda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251960" cy="9144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502920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3444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1490472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Motivation &amp; Problem Statement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1234440"/>
            <a:ext cx="4251960" cy="9144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234440"/>
            <a:ext cx="502920" cy="9144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23444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94960" y="1490472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Architecture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331720"/>
            <a:ext cx="4251960" cy="9144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331720"/>
            <a:ext cx="502920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33172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60120" y="2587752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Use Cases &amp; SPL Implementation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00600" y="2331720"/>
            <a:ext cx="4251960" cy="9144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2331720"/>
            <a:ext cx="502920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233172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394960" y="2587752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Results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429000"/>
            <a:ext cx="4251960" cy="9144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429000"/>
            <a:ext cx="50292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2900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60120" y="3685032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 &amp; Limitations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00600" y="3429000"/>
            <a:ext cx="4251960" cy="9144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3429000"/>
            <a:ext cx="502920" cy="9144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342900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06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394960" y="3685032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&amp; Conclusion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A3BE"/>
                </a:solidFill>
              </a:rPr>
              <a:t>Approx. 20 minutes + Q&amp;A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SECTION 1 — PROBLEM STATEMENT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Exfiltration Challenge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02920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234440"/>
            <a:ext cx="45720" cy="7132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23444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leaves via many channels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1545336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uploads, cloud storage, email, DNS, and collaboration tools — all exploitable.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2130552"/>
            <a:ext cx="45720" cy="71323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13055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tools operate in silos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244144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Single-channel inspection creates fragmented visibility and alert fatigue.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5760" y="3026664"/>
            <a:ext cx="45720" cy="7132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3026664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data underutilised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333756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telemetry in Splunk is rarely used for DLP-specific detection.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65760" y="3922776"/>
            <a:ext cx="45720" cy="71323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3922776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response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48640" y="4233672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organisations have playbooks coupling alert generation to SOC action.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389120" y="1188720"/>
            <a:ext cx="4572000" cy="370332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526280" y="13258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Project Addresses It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26280" y="1737360"/>
            <a:ext cx="4251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detection-engineering methodology applied inside Splunk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Cross-channel correlation across network, DNS, email, and DLP logs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high-fidelity detection use cases with tuned SPL rules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Coupled incident response playbooks for each detection scenario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33,000+ synthetic events — 100% recall, 94% precision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SECTION 2 — SYSTEM DESIGN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Four-Layer System Architecture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011680" cy="338328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2011680" cy="41148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88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Layer 1</a:t>
            </a:r>
            <a:endParaRPr lang="en-US" sz="1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1737360"/>
            <a:ext cx="502920" cy="502920"/>
          </a:xfrm>
          <a:prstGeom prst="rect">
            <a:avLst/>
          </a:prstGeom>
          <a:solidFill>
            <a:srgbClr val="FFC000"/>
          </a:solidFill>
        </p:spPr>
      </p:pic>
      <p:sp>
        <p:nvSpPr>
          <p:cNvPr id="9" name="Text 6"/>
          <p:cNvSpPr/>
          <p:nvPr/>
        </p:nvSpPr>
        <p:spPr>
          <a:xfrm>
            <a:off x="365760" y="23591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 Layer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· DNS · Email · DLP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286000" y="2880360"/>
            <a:ext cx="164592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450592" y="1188720"/>
            <a:ext cx="2011680" cy="338328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450592" y="1188720"/>
            <a:ext cx="201168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450592" y="1188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Layer 2</a:t>
            </a:r>
            <a:endParaRPr lang="en-US" sz="10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1737360"/>
            <a:ext cx="502920" cy="502920"/>
          </a:xfrm>
          <a:prstGeom prst="rect">
            <a:avLst/>
          </a:prstGeom>
          <a:solidFill>
            <a:srgbClr val="FFC000"/>
          </a:solidFill>
        </p:spPr>
      </p:pic>
      <p:sp>
        <p:nvSpPr>
          <p:cNvPr id="16" name="Text 12"/>
          <p:cNvSpPr/>
          <p:nvPr/>
        </p:nvSpPr>
        <p:spPr>
          <a:xfrm>
            <a:off x="2542032" y="23591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&amp; Normalisation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542032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Indexes · Field Extraction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462272" y="2880360"/>
            <a:ext cx="164592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626864" y="1188720"/>
            <a:ext cx="2011680" cy="338328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626864" y="1188720"/>
            <a:ext cx="2011680" cy="41148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626864" y="1188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Layer 3</a:t>
            </a:r>
            <a:endParaRPr lang="en-US" sz="10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6672" y="1737360"/>
            <a:ext cx="502920" cy="502920"/>
          </a:xfrm>
          <a:prstGeom prst="rect">
            <a:avLst/>
          </a:prstGeom>
          <a:solidFill>
            <a:srgbClr val="FFC000"/>
          </a:solidFill>
        </p:spPr>
      </p:pic>
      <p:sp>
        <p:nvSpPr>
          <p:cNvPr id="23" name="Text 18"/>
          <p:cNvSpPr/>
          <p:nvPr/>
        </p:nvSpPr>
        <p:spPr>
          <a:xfrm>
            <a:off x="4718304" y="23591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Detection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4718304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 Rules · Entropy · Baselines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6638544" y="2880360"/>
            <a:ext cx="164592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803136" y="1188720"/>
            <a:ext cx="2011680" cy="338328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803136" y="1188720"/>
            <a:ext cx="201168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803136" y="1188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Layer 4</a:t>
            </a:r>
            <a:endParaRPr lang="en-US" sz="10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2944" y="1737360"/>
            <a:ext cx="502920" cy="502920"/>
          </a:xfrm>
          <a:prstGeom prst="rect">
            <a:avLst/>
          </a:prstGeom>
          <a:solidFill>
            <a:srgbClr val="FFC000"/>
          </a:solidFill>
        </p:spPr>
      </p:pic>
      <p:sp>
        <p:nvSpPr>
          <p:cNvPr id="30" name="Text 24"/>
          <p:cNvSpPr/>
          <p:nvPr/>
        </p:nvSpPr>
        <p:spPr>
          <a:xfrm>
            <a:off x="6894576" y="23591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&amp; Response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6894576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· Playbooks · Escalation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274320" y="470916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top-to-bottom through each layer: raw logs → normalised events → detected alerts → analyst action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SECTION 2 — SYSTEM DESIGN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Normalised Fields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8503920" cy="786384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28016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/ Proxy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51560" y="160934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 = dlp_test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834640" y="1243584"/>
            <a:ext cx="27432" cy="676656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26080" y="138988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src_ip · dest_ip · domain · bytes · user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406640" y="1435608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06640" y="14356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UC1, UC2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20040" y="2075688"/>
            <a:ext cx="8503920" cy="786384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24028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51560" y="216712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Query Logs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051560" y="24963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 = dns_logs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2834640" y="2130552"/>
            <a:ext cx="27432" cy="676656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926080" y="2276856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src_ip · query_name · query_type · response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406640" y="2322576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406640" y="232257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UC3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320040" y="2962656"/>
            <a:ext cx="8503920" cy="786384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127248"/>
            <a:ext cx="411480" cy="4114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51560" y="30540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Audit Logs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1051560" y="338328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 = email_logs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2834640" y="3017520"/>
            <a:ext cx="27432" cy="676656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2926080" y="316382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· recipient · action · attachment_size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7406640" y="3209544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7406640" y="320954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UC4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320040" y="3849624"/>
            <a:ext cx="8503920" cy="786384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014216"/>
            <a:ext cx="411480" cy="41148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051560" y="39410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Policy Logs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1051560" y="427024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 = dlp_policy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2834640" y="3904488"/>
            <a:ext cx="27432" cy="676656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2926080" y="405079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· host · policy_name · action · severity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406640" y="4096512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7406640" y="40965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Enrich all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SECTION 3 — DETECTION USE CASES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Detection Use Cases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2029968" cy="352044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2029968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70432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UC1</a:t>
            </a:r>
            <a:endParaRPr lang="en-US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178308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2377440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Transfer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3063240"/>
            <a:ext cx="1755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signal: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11480" y="3291840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500 MB / host / domain / hr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11480" y="4206240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Playbook PB1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496312" y="1170432"/>
            <a:ext cx="2029968" cy="352044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496312" y="1170432"/>
            <a:ext cx="2029968" cy="4572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496312" y="1170432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UC2</a:t>
            </a:r>
            <a:endParaRPr lang="en-US" sz="16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5264" y="1783080"/>
            <a:ext cx="502920" cy="5029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587752" y="2377440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Unsanctioned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2633472" y="3063240"/>
            <a:ext cx="1755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signal: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2587752" y="3291840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in unsanctioned list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2587752" y="4206240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Playbook PB2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4672584" y="1170432"/>
            <a:ext cx="2029968" cy="352044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672584" y="1170432"/>
            <a:ext cx="2029968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672584" y="1170432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UC3</a:t>
            </a:r>
            <a:endParaRPr lang="en-US" sz="16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1536" y="1783080"/>
            <a:ext cx="502920" cy="5029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764024" y="2377440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DNS-Based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Exfiltration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4809744" y="3063240"/>
            <a:ext cx="1755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signal: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4764024" y="3291840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+ Length + Entropy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4764024" y="4206240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Playbook PB3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6848856" y="1170432"/>
            <a:ext cx="2029968" cy="352044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848856" y="1170432"/>
            <a:ext cx="2029968" cy="4572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848856" y="1170432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UC4</a:t>
            </a:r>
            <a:endParaRPr lang="en-US" sz="160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7808" y="1783080"/>
            <a:ext cx="502920" cy="50292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940296" y="2377440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Email-Based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Exfiltration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6986016" y="3063240"/>
            <a:ext cx="1755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signal: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6940296" y="3291840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50 sends OR &gt; 100 MB attach</a:t>
            </a:r>
            <a:endParaRPr lang="en-US" sz="950" dirty="0"/>
          </a:p>
        </p:txBody>
      </p:sp>
      <p:sp>
        <p:nvSpPr>
          <p:cNvPr id="36" name="Text 30"/>
          <p:cNvSpPr/>
          <p:nvPr/>
        </p:nvSpPr>
        <p:spPr>
          <a:xfrm>
            <a:off x="6940296" y="4206240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Playbook PB4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SECTION 3 — SPL IMPLEMENTATION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 &amp; UC2 — Volume &amp; Unsanctioned Domain Detection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846320" cy="246888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34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 — High-Volume Outbound Transfer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591056"/>
            <a:ext cx="4617720" cy="1874520"/>
          </a:xfrm>
          <a:prstGeom prst="rect">
            <a:avLst/>
          </a:prstGeom>
          <a:solidFill>
            <a:srgbClr val="0B1622"/>
          </a:solidFill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index=dlp_test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stats sum(bytes) as total_bytes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 as event_count by src_ip domain user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where total_bytes &gt; `outbound_bytes_threshold`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eval total_gb = round(total_bytes/1073741824,2)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lookup asset_inventory src_ip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 hostname department criticality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sort - total_gb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349240" y="1170432"/>
            <a:ext cx="3657600" cy="246888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0" y="12344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— Unsanctioned Domain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0" y="1591056"/>
            <a:ext cx="3337560" cy="1874520"/>
          </a:xfrm>
          <a:prstGeom prst="rect">
            <a:avLst/>
          </a:prstGeom>
          <a:solidFill>
            <a:srgbClr val="0B1622"/>
          </a:solidFill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index=dlp_test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lookup unsanctioned_domains.csv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domain OUTPUT domain as flagged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lookup sanctioned_services.csv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 domain OUTPUT user as exempt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where isnotnull(flagged)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AND isnull(exempt)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stats sum(bytes) as total_bytes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 by src_ip domain user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376732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 Result:  4 / 4 TP  ·  0 FP  ·  Precision 100%  ·  Recall 100%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349240" y="37673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Result:  6 / 6 TP  ·  0 FP  ·  Precision 100%  ·  Recall 100%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4096512"/>
            <a:ext cx="8686800" cy="77724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224528"/>
            <a:ext cx="329184" cy="32918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14400" y="4160520"/>
            <a:ext cx="7909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Correlation: UC1 + UC2 fired simultaneously on 2 of 4 UC1 scenarios — large transfers to unsanctioned domains. This compound signal escalates severity from High to Critical.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SECTION 3 — SPL IMPLEMENTATION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 — DNS-Based Exfiltration with Entropy Scoring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3931920" cy="210312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43584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Three Signals?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Query Volume alone: 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057400" y="1664208"/>
            <a:ext cx="2057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agents also generate high query counts — FP risk.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04825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Subdomain Length alone: 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057400" y="2048256"/>
            <a:ext cx="2057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hostnames exist in legitimate CDN and monitoring traffic.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43230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Entropy alone: 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57400" y="2432304"/>
            <a:ext cx="2057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high-entropy strings are tunneled data.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8163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All three combined: 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057400" y="2816352"/>
            <a:ext cx="2057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Uniquely identifies base64-encoded payload traffic. Zero FP after tuning.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34840" y="1170432"/>
            <a:ext cx="4572000" cy="210312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0" y="1243584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 — DNS Exfiltration (Simplified)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1609344"/>
            <a:ext cx="4206240" cy="1572768"/>
          </a:xfrm>
          <a:prstGeom prst="rect">
            <a:avLst/>
          </a:prstGeom>
          <a:solidFill>
            <a:srgbClr val="0B1622"/>
          </a:solidFill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index=dns_logs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eval subdomain=mvindex(split(query_name,"."),0)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eval sub_len=len(subdomain)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eval entropy=`calc_entropy(subdomain)`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stats count as query_count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avg(sub_len) as avg_len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avg(entropy) as avg_entropy by src_ip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where query_count &gt; `dns_query_count_threshold`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avg_len     &gt; `dns_subdomain_len_threshold`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avg_entropy &gt; `dns_entropy_threshold`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0040" y="34015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Tuning Results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2588983"/>
              </p:ext>
            </p:extLst>
          </p:nvPr>
        </p:nvGraphicFramePr>
        <p:xfrm>
          <a:off x="320040" y="3767328"/>
          <a:ext cx="8686800" cy="11430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Host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Queries/hr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Avg Entropy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Assessment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000"/>
                          </a:solidFill>
                        </a:rPr>
                        <a:t>10.0.0.14</a:t>
                      </a:r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000"/>
                          </a:solidFill>
                        </a:rPr>
                        <a:t>1,842</a:t>
                      </a:r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000"/>
                          </a:solidFill>
                        </a:rPr>
                        <a:t>4.21</a:t>
                      </a:r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</a:rPr>
                        <a:t>✓ Confirmed Tunnel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000"/>
                          </a:solidFill>
                        </a:rPr>
                        <a:t>10.0.0.31</a:t>
                      </a:r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000"/>
                          </a:solidFill>
                        </a:rPr>
                        <a:t>987</a:t>
                      </a:r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000"/>
                          </a:solidFill>
                        </a:rPr>
                        <a:t>4.08</a:t>
                      </a:r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</a:rPr>
                        <a:t>✓ Confirmed Tunnel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000"/>
                          </a:solidFill>
                        </a:rPr>
                        <a:t>10.0.0.7</a:t>
                      </a:r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000"/>
                          </a:solidFill>
                        </a:rPr>
                        <a:t>412</a:t>
                      </a:r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000"/>
                          </a:solidFill>
                        </a:rPr>
                        <a:t>2.87</a:t>
                      </a:r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</a:rPr>
                        <a:t>✗ Cleared — Monitoring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SECTION 3 — SPL IMPLEMENTATION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UC4 — Email-Based Exfiltration (Dual-Rule)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206240" cy="22860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4358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A — Mass External Forwarding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09344"/>
            <a:ext cx="3931920" cy="1755648"/>
          </a:xfrm>
          <a:prstGeom prst="rect">
            <a:avLst/>
          </a:prstGeom>
          <a:solidFill>
            <a:srgbClr val="0B1622"/>
          </a:solidFill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index=email_logs (action=send OR action=forward)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where NOT match(recipient,"@company\.com$")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lookup authorized_senders.csv user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 user as exempt_user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where isnull(exempt_user)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stats count as external_sends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dc(recipient) as unique_recipients by user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where external_sends &gt; `email_send_threshold`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 unique_recipients &gt; `email_recipient_threshold`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09160" y="1170432"/>
            <a:ext cx="4206240" cy="22860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24358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B — Bulk Attachment Volume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0" y="1609344"/>
            <a:ext cx="3931920" cy="1755648"/>
          </a:xfrm>
          <a:prstGeom prst="rect">
            <a:avLst/>
          </a:prstGeom>
          <a:solidFill>
            <a:srgbClr val="0B1622"/>
          </a:solidFill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index=email_logs action=send attachment_size&gt;0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where NOT match(recipient,"@company\.com$")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lookup authorized_senders.csv user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 user as exempt_user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where isnull(exempt_user)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stats sum(attachment_size) as total_bytes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 as email_count by user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where total_bytes &gt; `email_attach_bytes_threshold`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eval total_mb=round(total_bytes/1048576,1)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1289592"/>
              </p:ext>
            </p:extLst>
          </p:nvPr>
        </p:nvGraphicFramePr>
        <p:xfrm>
          <a:off x="320040" y="3566160"/>
          <a:ext cx="8686800" cy="13716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User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Rule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Ext. Sends / Attach. Vol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Assessment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000"/>
                          </a:solidFill>
                        </a:rPr>
                        <a:t>bob</a:t>
                      </a:r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000"/>
                          </a:solidFill>
                        </a:rPr>
                        <a:t>A</a:t>
                      </a:r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000"/>
                          </a:solidFill>
                        </a:rPr>
                        <a:t>147 sends · 89 recipients</a:t>
                      </a:r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</a:rPr>
                        <a:t>✓ Mass Forwarding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000"/>
                          </a:solidFill>
                        </a:rPr>
                        <a:t>carol</a:t>
                      </a:r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000"/>
                          </a:solidFill>
                        </a:rPr>
                        <a:t>B</a:t>
                      </a:r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000"/>
                          </a:solidFill>
                        </a:rPr>
                        <a:t>23 emails · 312 MB</a:t>
                      </a:r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</a:rPr>
                        <a:t>✓ Bulk Attachment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000"/>
                          </a:solidFill>
                        </a:rPr>
                        <a:t>dave</a:t>
                      </a:r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000"/>
                          </a:solidFill>
                        </a:rPr>
                        <a:t>A</a:t>
                      </a:r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000"/>
                          </a:solidFill>
                        </a:rPr>
                        <a:t>61 sends · 12 recipients</a:t>
                      </a:r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</a:rPr>
                        <a:t>✓ Mass Forwarding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000"/>
                          </a:solidFill>
                        </a:rPr>
                        <a:t>frank</a:t>
                      </a:r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000"/>
                          </a:solidFill>
                        </a:rPr>
                        <a:t>A</a:t>
                      </a:r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000"/>
                          </a:solidFill>
                        </a:rPr>
                        <a:t>62 sends (campaign)</a:t>
                      </a:r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</a:rPr>
                        <a:t>FP → Added to exceptions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SECTION 3 — INCIDENT RESPONSE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Playbooks — Structure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920240" cy="329184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70432"/>
            <a:ext cx="1920240" cy="4206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7043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" y="1691640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359152"/>
            <a:ext cx="17556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alert; check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windows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sanctioned exceptions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77440" y="2834640"/>
            <a:ext cx="246888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24328" y="1170432"/>
            <a:ext cx="1920240" cy="329184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24328" y="1170432"/>
            <a:ext cx="1920240" cy="420624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24328" y="117043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97480" y="1691640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15768" y="2359152"/>
            <a:ext cx="17556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identity; prior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alerts; asset data;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status check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44568" y="2834640"/>
            <a:ext cx="246888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91456" y="1170432"/>
            <a:ext cx="1920240" cy="329184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91456" y="1170432"/>
            <a:ext cx="1920240" cy="4206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91456" y="117043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64608" y="1691640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82896" y="2359152"/>
            <a:ext cx="17556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domain/email;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host;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evidence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11696" y="2834640"/>
            <a:ext cx="246888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58584" y="1170432"/>
            <a:ext cx="1920240" cy="329184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58584" y="1170432"/>
            <a:ext cx="1920240" cy="420624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58584" y="117043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31736" y="1691640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50024" y="2359152"/>
            <a:ext cx="17556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matrix;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ticket;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notify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4535424"/>
            <a:ext cx="8686800" cy="41148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" y="45720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triggers: Sensitive data confirmed → CISO + Legal (1 hr)  ·  DNS tunnel (any) → IR team (Immediate)  ·  Insider threat → CISO + HR + Legal (Immediate)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SECTION 4 — EVALUATION 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 Overview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1920240" cy="105156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243584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20040" y="1828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Executed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1170432"/>
            <a:ext cx="1920240" cy="105156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23160" y="1243584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423160" y="1828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Scenarios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26280" y="1170432"/>
            <a:ext cx="1920240" cy="105156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26280" y="1243584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33K+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526280" y="1828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Events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29400" y="1170432"/>
            <a:ext cx="2148840" cy="105156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29400" y="1243584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629400" y="18288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Recall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24231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Type Breakdown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7343700"/>
              </p:ext>
            </p:extLst>
          </p:nvPr>
        </p:nvGraphicFramePr>
        <p:xfrm>
          <a:off x="320040" y="2816352"/>
          <a:ext cx="5303520" cy="1773936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Test Type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Tests Run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Managed FP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000"/>
                          </a:solidFill>
                        </a:rPr>
                        <a:t>Unit-Level Detection</a:t>
                      </a:r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000"/>
                          </a:solidFill>
                        </a:rPr>
                        <a:t>14</a:t>
                      </a:r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000"/>
                          </a:solidFill>
                        </a:rPr>
                        <a:t>14</a:t>
                      </a:r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000"/>
                          </a:solidFill>
                        </a:rPr>
                        <a:t>0</a:t>
                      </a:r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000"/>
                          </a:solidFill>
                        </a:rPr>
                        <a:t>Scenario-Based (E2E)</a:t>
                      </a:r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000"/>
                          </a:solidFill>
                        </a:rPr>
                        <a:t>5</a:t>
                      </a:r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000"/>
                          </a:solidFill>
                        </a:rPr>
                        <a:t>5</a:t>
                      </a:r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000"/>
                          </a:solidFill>
                        </a:rPr>
                        <a:t>0</a:t>
                      </a:r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000"/>
                          </a:solidFill>
                        </a:rPr>
                        <a:t>Baseline / False-Positive</a:t>
                      </a:r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000"/>
                          </a:solidFill>
                        </a:rPr>
                        <a:t>4</a:t>
                      </a:r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000"/>
                          </a:solidFill>
                        </a:rPr>
                        <a:t>3</a:t>
                      </a:r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000"/>
                          </a:solidFill>
                        </a:rPr>
                        <a:t>1</a:t>
                      </a:r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000"/>
                          </a:solidFill>
                        </a:rPr>
                        <a:t>Performance Benchmarks</a:t>
                      </a:r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000"/>
                          </a:solidFill>
                        </a:rPr>
                        <a:t>4</a:t>
                      </a:r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000"/>
                          </a:solidFill>
                        </a:rPr>
                        <a:t>4</a:t>
                      </a:r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000"/>
                          </a:solidFill>
                        </a:rPr>
                        <a:t>0</a:t>
                      </a:r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5852160" y="2423160"/>
            <a:ext cx="3017520" cy="2039112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989320" y="24963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Used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989320" y="2871216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dataset: ~24,000 events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validation: ~8,000 events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source types: proxy, DNS, email, DLP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exfiltration + benign mix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SECTION 4 — EVALUATION 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Performance — Precision, Recall &amp; F1</a:t>
            </a:r>
            <a:endParaRPr lang="en-US" sz="24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878887087"/>
              </p:ext>
            </p:extLst>
          </p:nvPr>
        </p:nvGraphicFramePr>
        <p:xfrm>
          <a:off x="320040" y="1143000"/>
          <a:ext cx="530352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1143000"/>
          <a:ext cx="3154680" cy="25603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Use Case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TP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FP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UC1 – High-Volume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</a:rPr>
                        <a:t>1.00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UC2 – Unsanctioned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</a:rPr>
                        <a:t>1.00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UC3 – DNS Exfil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</a:rPr>
                        <a:t>1.00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UC4 – Email Exfil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</a:rPr>
                        <a:t>0.86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OVERALL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15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</a:rPr>
                        <a:t>0.97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806440" y="3749040"/>
            <a:ext cx="3154680" cy="9144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3877056"/>
            <a:ext cx="310896" cy="31089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309360" y="3785616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UC4 FP: Legitimate bulk email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— user added to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authorized_senders.csv after test.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SECTION 4 — EVALUATION 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Scenario Test Results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8595360" cy="621792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594360" cy="621792"/>
          </a:xfrm>
          <a:prstGeom prst="rect">
            <a:avLst/>
          </a:prstGeom>
          <a:solidFill>
            <a:srgbClr val="0891B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88720"/>
            <a:ext cx="594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325880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uploads archive to Dropbox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0" y="132588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Rules: UC1 + UC2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223760" y="132588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Playbook: PB1, PB2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772400" y="1344168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0" y="1344168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PASS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1901952"/>
            <a:ext cx="8595360" cy="621792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901952"/>
            <a:ext cx="594360" cy="621792"/>
          </a:xfrm>
          <a:prstGeom prst="rect">
            <a:avLst/>
          </a:prstGeom>
          <a:solidFill>
            <a:srgbClr val="1B4F8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901952"/>
            <a:ext cx="594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2039112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bulk-forwards pre-resignation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0" y="2039112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Rules: UC4 (Rule A)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223760" y="2039112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Playbook: PB4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772400" y="2057400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0" y="2057400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PASS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2615184"/>
            <a:ext cx="8595360" cy="621792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615184"/>
            <a:ext cx="594360" cy="621792"/>
          </a:xfrm>
          <a:prstGeom prst="rect">
            <a:avLst/>
          </a:prstGeom>
          <a:solidFill>
            <a:srgbClr val="0891B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615184"/>
            <a:ext cx="594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2752344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Compromised host runs DNS tunnel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0" y="275234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Rules: UC3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223760" y="275234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Playbook: PB3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772400" y="2770632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0" y="2770632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PASS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3328416"/>
            <a:ext cx="8595360" cy="621792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328416"/>
            <a:ext cx="594360" cy="621792"/>
          </a:xfrm>
          <a:prstGeom prst="rect">
            <a:avLst/>
          </a:prstGeom>
          <a:solidFill>
            <a:srgbClr val="1B4F8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328416"/>
            <a:ext cx="594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05840" y="3465576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file sync to WeTransfer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0" y="3465576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Rules: UC1 + UC2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223760" y="3465576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Playbook: PB1, PB2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772400" y="3483864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0" y="3483864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PASS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0040" y="4041648"/>
            <a:ext cx="8595360" cy="621792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0040" y="4041648"/>
            <a:ext cx="594360" cy="621792"/>
          </a:xfrm>
          <a:prstGeom prst="rect">
            <a:avLst/>
          </a:prstGeom>
          <a:solidFill>
            <a:srgbClr val="0891B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4041648"/>
            <a:ext cx="594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S5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05840" y="4178808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attachment send to Gmail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486400" y="417880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Rules: UC4 (Rule B)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223760" y="417880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Playbook: PB4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772400" y="419709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72400" y="419709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PASS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20040" y="47731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 scenarios passed  ·  100% detection coverage  ·  100% correct playbook routing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SECTION 4 — EVALUATION 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Performance Benchmarks</a:t>
            </a:r>
            <a:endParaRPr lang="en-US" sz="24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2159473187"/>
              </p:ext>
            </p:extLst>
          </p:nvPr>
        </p:nvGraphicFramePr>
        <p:xfrm>
          <a:off x="320040" y="1143000"/>
          <a:ext cx="54864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989320" y="1143000"/>
            <a:ext cx="2926080" cy="347472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126480" y="121615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Target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126480" y="1581912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searches must complete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30 seconds for 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24-hour look-back window.</a:t>
            </a:r>
            <a:endParaRPr lang="en-US" sz="1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2359152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83680" y="23774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rules met SLA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126480" y="2788920"/>
            <a:ext cx="26517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 note: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computation adds ~0.9 s overhead. For &gt;1M DNS events/day, pre-compute at index time to reduce 24-hr window to ~4–5 s.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SECTION 5 — LESSONS LEARNED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Lessons Learned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224528" cy="1664208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8408" y="1335024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Multi-signal beats single-signal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1828800"/>
            <a:ext cx="395020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 showed that query volume, subdomain length, and entropy together uniquely identify tunneling. No single signal was sufficient — each produced FPs or blind spots independently.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27448" y="1170432"/>
            <a:ext cx="4224528" cy="1664208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37160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85816" y="1335024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lookups need operational ownership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864608" y="1828800"/>
            <a:ext cx="395020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UC4 FP (marketing bulk campaign) was predictable. Exception CSVs must have a named owner and quarterly review cadence — they're ongoing commitments, not one-time setup.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20040" y="2999232"/>
            <a:ext cx="4224528" cy="1664208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20040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78408" y="3163824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banding improves analyst speed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57200" y="3657600"/>
            <a:ext cx="395020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Critical / High / Medium / Low tiers to UC1 based on transfer volume significantly reduced analyst triage time. Flat severity forces re-examination of raw data for every alert.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727448" y="2999232"/>
            <a:ext cx="4224528" cy="1664208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608" y="320040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85816" y="3163824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for SPL is underrated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4864608" y="3657600"/>
            <a:ext cx="395020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diffs on SPL rules made every tuning decision auditable and reversible. On two occasions, comparing before/after versions saved significant debugging time.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SECTION 5 — LIMITATIONS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45720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0700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dependency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0" y="1225296"/>
            <a:ext cx="5669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testing used purpose-built datasets. Real enterprise traffic will have more diversity, noise, and edge cases. FP rates in production may be higher until exception lookups are populated from observed baselines.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45720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5681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thresholds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0" y="1975104"/>
            <a:ext cx="5669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rules use fixed thresholds. Seasonal patterns (year-end reporting, product launches) may trigger elevated FPs during peak activity. Dynamic baselines (rolling percentiles via MLTK) would address this.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670048"/>
            <a:ext cx="45720" cy="6217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70662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SOAR integration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2724912"/>
            <a:ext cx="5669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Playbooks are currently semi-manual. Without automation, response consistency depends on analyst availability and discipline under high alert load.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419856"/>
            <a:ext cx="45720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45643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Exfiltration-phase coverage only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0" y="3474720"/>
            <a:ext cx="5669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detects exfiltration-phase activity. It does not correlate with credential compromise, lateral movement, or privilege escalation — earlier attack lifecycle stages that would provide even earlier warning.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4169664"/>
            <a:ext cx="45720" cy="621792"/>
          </a:xfrm>
          <a:prstGeom prst="rect">
            <a:avLst/>
          </a:prstGeom>
          <a:solidFill>
            <a:srgbClr val="8BA3BE"/>
          </a:solidFill>
          <a:ln w="12700">
            <a:solidFill>
              <a:srgbClr val="8BA3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20624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Single-organisation scope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0" y="4224528"/>
            <a:ext cx="5669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are calibrated for the synthetic dataset's implied organisational profile. Production deployment requires recalibration against the target organisation's actual traffic baselines.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SECTION 6 — FUTURE WORK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— Prioritised Roadmap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2743200" cy="155448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502920" cy="1554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70432"/>
            <a:ext cx="502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P1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07592"/>
            <a:ext cx="384048" cy="384048"/>
          </a:xfrm>
          <a:prstGeom prst="rect">
            <a:avLst/>
          </a:prstGeom>
          <a:solidFill>
            <a:srgbClr val="FFC000"/>
          </a:solidFill>
        </p:spPr>
      </p:pic>
      <p:sp>
        <p:nvSpPr>
          <p:cNvPr id="9" name="Text 6"/>
          <p:cNvSpPr/>
          <p:nvPr/>
        </p:nvSpPr>
        <p:spPr>
          <a:xfrm>
            <a:off x="914400" y="17373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SOAR Integration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2139696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domain block, account suspension, legal hold initiation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46120" y="1170432"/>
            <a:ext cx="2743200" cy="155448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170432"/>
            <a:ext cx="502920" cy="1554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46120" y="1170432"/>
            <a:ext cx="502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P2</a:t>
            </a:r>
            <a:endParaRPr lang="en-US" sz="12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1307592"/>
            <a:ext cx="384048" cy="384048"/>
          </a:xfrm>
          <a:prstGeom prst="rect">
            <a:avLst/>
          </a:prstGeom>
          <a:solidFill>
            <a:srgbClr val="FFC000"/>
          </a:solidFill>
        </p:spPr>
      </p:pic>
      <p:sp>
        <p:nvSpPr>
          <p:cNvPr id="15" name="Text 11"/>
          <p:cNvSpPr/>
          <p:nvPr/>
        </p:nvSpPr>
        <p:spPr>
          <a:xfrm>
            <a:off x="3840480" y="17373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Baselines (MLTK)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840480" y="2139696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Per-entity rolling thresholds via Splunk ML Toolkit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172200" y="1170432"/>
            <a:ext cx="2743200" cy="155448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72200" y="1170432"/>
            <a:ext cx="502920" cy="155448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172200" y="1170432"/>
            <a:ext cx="502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P3</a:t>
            </a:r>
            <a:endParaRPr lang="en-US" sz="12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1307592"/>
            <a:ext cx="384048" cy="384048"/>
          </a:xfrm>
          <a:prstGeom prst="rect">
            <a:avLst/>
          </a:prstGeom>
          <a:solidFill>
            <a:srgbClr val="FFC000"/>
          </a:solidFill>
        </p:spPr>
      </p:pic>
      <p:sp>
        <p:nvSpPr>
          <p:cNvPr id="21" name="Text 16"/>
          <p:cNvSpPr/>
          <p:nvPr/>
        </p:nvSpPr>
        <p:spPr>
          <a:xfrm>
            <a:off x="6766560" y="17373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Risk Scoring Layer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766560" y="2139696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multi-UC signals into a composite exfiltration risk score per user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320040" y="2944368"/>
            <a:ext cx="4206240" cy="155448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20040" y="2944368"/>
            <a:ext cx="502920" cy="1554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320040" y="2944368"/>
            <a:ext cx="502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P4</a:t>
            </a:r>
            <a:endParaRPr lang="en-US" sz="12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081528"/>
            <a:ext cx="384048" cy="384048"/>
          </a:xfrm>
          <a:prstGeom prst="rect">
            <a:avLst/>
          </a:prstGeom>
          <a:solidFill>
            <a:srgbClr val="FFC000"/>
          </a:solidFill>
        </p:spPr>
      </p:pic>
      <p:sp>
        <p:nvSpPr>
          <p:cNvPr id="27" name="Text 21"/>
          <p:cNvSpPr/>
          <p:nvPr/>
        </p:nvSpPr>
        <p:spPr>
          <a:xfrm>
            <a:off x="914400" y="351129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Vectors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914400" y="3913632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· Printer · Teams/Slack · HTTPS tunneling on non-standard ports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3246120" y="2944368"/>
            <a:ext cx="4206240" cy="155448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246120" y="2944368"/>
            <a:ext cx="502920" cy="155448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3246120" y="2944368"/>
            <a:ext cx="502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P5</a:t>
            </a:r>
            <a:endParaRPr lang="en-US" sz="12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0" y="3081528"/>
            <a:ext cx="384048" cy="384048"/>
          </a:xfrm>
          <a:prstGeom prst="rect">
            <a:avLst/>
          </a:prstGeom>
          <a:solidFill>
            <a:srgbClr val="FFC000"/>
          </a:solidFill>
        </p:spPr>
      </p:pic>
      <p:sp>
        <p:nvSpPr>
          <p:cNvPr id="33" name="Text 26"/>
          <p:cNvSpPr/>
          <p:nvPr/>
        </p:nvSpPr>
        <p:spPr>
          <a:xfrm>
            <a:off x="3840480" y="351129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Data Validation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3840480" y="3913632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monitor-only mode; recalibrate thresholds against real baseline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SECTION 6 — DELIVERABLES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Deliverable Package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2743200" cy="178308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2743200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25296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117043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 Detections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1627632"/>
            <a:ext cx="246888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uc1–uc4_*.spl (4 rules)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calc_entropy.spl (macro)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thresholds.conf (all macros)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46120" y="1170432"/>
            <a:ext cx="2743200" cy="178308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1170432"/>
            <a:ext cx="2743200" cy="3657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225296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57600" y="117043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Tables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383280" y="1627632"/>
            <a:ext cx="246888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unsanctioned_domains.csv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authorized_senders.csv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sanctioned_services.csv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asset_inventory.csv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172200" y="1170432"/>
            <a:ext cx="2743200" cy="178308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72200" y="1170432"/>
            <a:ext cx="2743200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225296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83680" y="117043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Playbooks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309360" y="1627632"/>
            <a:ext cx="246888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playbook_pb1.md – PB4.md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4-step each use case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 enrichment queries embedded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320040" y="3108960"/>
            <a:ext cx="2743200" cy="178308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20040" y="3108960"/>
            <a:ext cx="2743200" cy="3657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3163824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1520" y="31089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Datasets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3566160"/>
            <a:ext cx="246888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synthetic_dataset/ ~24K events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benign_dataset/ ~8K events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source types covered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3246120" y="3108960"/>
            <a:ext cx="2743200" cy="178308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46120" y="3108960"/>
            <a:ext cx="2743200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7560" y="3163824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657600" y="31089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3383280" y="3566160"/>
            <a:ext cx="246888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test_catalog.xlsx (4 sheets)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tuning_log.md (7 entries)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eval_results.md (full results)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6172200" y="3108960"/>
            <a:ext cx="2743200" cy="178308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172200" y="3108960"/>
            <a:ext cx="2743200" cy="3657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3163824"/>
            <a:ext cx="256032" cy="25603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583680" y="31089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6309360" y="3566160"/>
            <a:ext cx="246888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final_report.docx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project documentation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 &amp; future work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SECTION 6 — SUMMARY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Scorecard — Requirements Met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224528" cy="347472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475488" cy="347472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7043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A3BE"/>
                </a:solidFill>
              </a:rPr>
              <a:t>FR1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" y="1225296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 (4 source types)</a:t>
            </a:r>
            <a:endParaRPr lang="en-US" sz="1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232" y="1234440"/>
            <a:ext cx="219456" cy="21945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20040" y="1591056"/>
            <a:ext cx="4224528" cy="347472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" y="1591056"/>
            <a:ext cx="475488" cy="347472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1591056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A3BE"/>
                </a:solidFill>
              </a:rPr>
              <a:t>FR2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50392" y="1645920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Detection Use Cases implemented</a:t>
            </a:r>
            <a:endParaRPr lang="en-US" sz="10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232" y="1655064"/>
            <a:ext cx="219456" cy="21945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20040" y="2011680"/>
            <a:ext cx="4224528" cy="347472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0040" y="2011680"/>
            <a:ext cx="475488" cy="347472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20040" y="2011680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A3BE"/>
                </a:solidFill>
              </a:rPr>
              <a:t>FR3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850392" y="2066544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 correlation logic with contextual alerts</a:t>
            </a:r>
            <a:endParaRPr lang="en-US" sz="10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232" y="2075688"/>
            <a:ext cx="219456" cy="219456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320040" y="2432304"/>
            <a:ext cx="4224528" cy="347472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20040" y="2432304"/>
            <a:ext cx="475488" cy="347472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320040" y="2432304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A3BE"/>
                </a:solidFill>
              </a:rPr>
              <a:t>FR4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850392" y="2487168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Incident Response Playbooks finalised</a:t>
            </a:r>
            <a:endParaRPr lang="en-US" sz="10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232" y="2496312"/>
            <a:ext cx="219456" cy="219456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320040" y="2852928"/>
            <a:ext cx="4224528" cy="347472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0040" y="2852928"/>
            <a:ext cx="475488" cy="347472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320040" y="285292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A3BE"/>
                </a:solidFill>
              </a:rPr>
              <a:t>FR5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850392" y="2907792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on synthetic + benign datasets</a:t>
            </a:r>
            <a:endParaRPr lang="en-US" sz="100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232" y="2916936"/>
            <a:ext cx="219456" cy="219456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4727448" y="1170432"/>
            <a:ext cx="4224528" cy="347472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727448" y="1170432"/>
            <a:ext cx="475488" cy="347472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4727448" y="117043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A3BE"/>
                </a:solidFill>
              </a:rPr>
              <a:t>NFR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5257800" y="1225296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Performance: all queries &lt; 30 s (24-hr window)</a:t>
            </a:r>
            <a:endParaRPr lang="en-US" sz="100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1234440"/>
            <a:ext cx="219456" cy="219456"/>
          </a:xfrm>
          <a:prstGeom prst="rect">
            <a:avLst/>
          </a:prstGeom>
        </p:spPr>
      </p:pic>
      <p:sp>
        <p:nvSpPr>
          <p:cNvPr id="35" name="Shape 27"/>
          <p:cNvSpPr/>
          <p:nvPr/>
        </p:nvSpPr>
        <p:spPr>
          <a:xfrm>
            <a:off x="4727448" y="1591056"/>
            <a:ext cx="4224528" cy="347472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4727448" y="1591056"/>
            <a:ext cx="475488" cy="347472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4727448" y="1591056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A3BE"/>
                </a:solidFill>
              </a:rPr>
              <a:t>NFR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5257800" y="1645920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Explainability: thresholds fully documented</a:t>
            </a:r>
            <a:endParaRPr lang="en-US" sz="1000" dirty="0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1655064"/>
            <a:ext cx="219456" cy="219456"/>
          </a:xfrm>
          <a:prstGeom prst="rect">
            <a:avLst/>
          </a:prstGeom>
        </p:spPr>
      </p:pic>
      <p:sp>
        <p:nvSpPr>
          <p:cNvPr id="40" name="Shape 31"/>
          <p:cNvSpPr/>
          <p:nvPr/>
        </p:nvSpPr>
        <p:spPr>
          <a:xfrm>
            <a:off x="4727448" y="2011680"/>
            <a:ext cx="4224528" cy="347472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4727448" y="2011680"/>
            <a:ext cx="475488" cy="347472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42" name="Text 33"/>
          <p:cNvSpPr/>
          <p:nvPr/>
        </p:nvSpPr>
        <p:spPr>
          <a:xfrm>
            <a:off x="4727448" y="2011680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A3BE"/>
                </a:solidFill>
              </a:rPr>
              <a:t>NFR</a:t>
            </a:r>
            <a:endParaRPr lang="en-US" sz="900" dirty="0"/>
          </a:p>
        </p:txBody>
      </p:sp>
      <p:sp>
        <p:nvSpPr>
          <p:cNvPr id="43" name="Text 34"/>
          <p:cNvSpPr/>
          <p:nvPr/>
        </p:nvSpPr>
        <p:spPr>
          <a:xfrm>
            <a:off x="5257800" y="2066544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Maintainability: Git repo; macros; CSVs</a:t>
            </a:r>
            <a:endParaRPr lang="en-US" sz="1000" dirty="0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2075688"/>
            <a:ext cx="219456" cy="219456"/>
          </a:xfrm>
          <a:prstGeom prst="rect">
            <a:avLst/>
          </a:prstGeom>
        </p:spPr>
      </p:pic>
      <p:sp>
        <p:nvSpPr>
          <p:cNvPr id="45" name="Shape 35"/>
          <p:cNvSpPr/>
          <p:nvPr/>
        </p:nvSpPr>
        <p:spPr>
          <a:xfrm>
            <a:off x="4727448" y="2432304"/>
            <a:ext cx="4224528" cy="347472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6" name="Shape 36"/>
          <p:cNvSpPr/>
          <p:nvPr/>
        </p:nvSpPr>
        <p:spPr>
          <a:xfrm>
            <a:off x="4727448" y="2432304"/>
            <a:ext cx="475488" cy="347472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4727448" y="2432304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A3BE"/>
                </a:solidFill>
              </a:rPr>
              <a:t>NFR</a:t>
            </a:r>
            <a:endParaRPr lang="en-US" sz="900" dirty="0"/>
          </a:p>
        </p:txBody>
      </p:sp>
      <p:sp>
        <p:nvSpPr>
          <p:cNvPr id="48" name="Text 38"/>
          <p:cNvSpPr/>
          <p:nvPr/>
        </p:nvSpPr>
        <p:spPr>
          <a:xfrm>
            <a:off x="5257800" y="2487168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Privacy: synthetic data only; no PII</a:t>
            </a:r>
            <a:endParaRPr lang="en-US" sz="1000" dirty="0"/>
          </a:p>
        </p:txBody>
      </p:sp>
      <p:pic>
        <p:nvPicPr>
          <p:cNvPr id="49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2496312"/>
            <a:ext cx="219456" cy="219456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320040" y="4617720"/>
            <a:ext cx="8595360" cy="384048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1" name="Text 40"/>
          <p:cNvSpPr/>
          <p:nvPr/>
        </p:nvSpPr>
        <p:spPr>
          <a:xfrm>
            <a:off x="457200" y="4654296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functional and non-functional requirements met  ·  Project completed on schedule  ·  Zero timeline deviations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008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554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02920" y="22402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Engineering for Data Loss Prevention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02920" y="2743200"/>
            <a:ext cx="3657600" cy="2743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2926080"/>
            <a:ext cx="1965960" cy="105156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02920" y="2999232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502920" y="358444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651760" y="2926080"/>
            <a:ext cx="1965960" cy="105156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651760" y="2999232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2651760" y="358444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800600" y="2926080"/>
            <a:ext cx="1965960" cy="105156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800600" y="2999232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4800600" y="358444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949440" y="2926080"/>
            <a:ext cx="1965960" cy="105156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949440" y="2999232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600" dirty="0"/>
          </a:p>
        </p:txBody>
      </p:sp>
      <p:sp>
        <p:nvSpPr>
          <p:cNvPr id="18" name="Text 15"/>
          <p:cNvSpPr/>
          <p:nvPr/>
        </p:nvSpPr>
        <p:spPr>
          <a:xfrm>
            <a:off x="6949440" y="358444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02920" y="46634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of Computer Science  ·  Final Project Presentation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2260</Words>
  <Application>Microsoft Office PowerPoint</Application>
  <PresentationFormat>On-screen Show (16:9)</PresentationFormat>
  <Paragraphs>457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Detection Engineering for DLP</dc:title>
  <dc:subject>PptxGenJS Presentation</dc:subject>
  <dc:creator>Master of Computer Science</dc:creator>
  <cp:lastModifiedBy>Pedram S</cp:lastModifiedBy>
  <cp:revision>6</cp:revision>
  <dcterms:created xsi:type="dcterms:W3CDTF">2026-04-22T15:16:52Z</dcterms:created>
  <dcterms:modified xsi:type="dcterms:W3CDTF">2026-05-01T01:08:08Z</dcterms:modified>
</cp:coreProperties>
</file>